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25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17324D"/>
                </a:solidFill>
                <a:latin typeface="Aptos"/>
              </a:defRPr>
            </a:pPr>
            <a:r>
              <a:t>SAFETY SIGNAL</a:t>
            </a:r>
          </a:p>
          <a:p>
            <a:pPr>
              <a:spcAft>
                <a:spcPts val="700"/>
              </a:spcAft>
              <a:defRPr sz="3200" b="1">
                <a:solidFill>
                  <a:srgbClr val="17324D"/>
                </a:solidFill>
                <a:latin typeface="Aptos"/>
              </a:defRPr>
            </a:pPr>
            <a:r>
              <a:t>REVIEW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0632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5789"/>
                </a:solidFill>
                <a:latin typeface="Aptos"/>
              </a:defRPr>
            </a:pPr>
            <a:r>
              <a:t>Pharmacovigilance | Synthetic adverse-reaction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977639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D3741"/>
                </a:solidFill>
                <a:latin typeface="Aptos"/>
              </a:defRPr>
            </a:pPr>
            <a:r>
              <a:t>Objective: summarize case characteristics, outcomes, and onset timing; identify a cautious potential pattern; and recommend follow-up without claiming causation.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6692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26579"/>
                </a:solidFill>
                <a:latin typeface="Aptos"/>
              </a:defRPr>
            </a:pPr>
            <a:r>
              <a:t>8 synthetic reports • Training use only • 23 October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5624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579"/>
                </a:solidFill>
              </a:defRPr>
            </a:pPr>
            <a:r>
              <a:t>EdVyro | Synthetic training data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2657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 Display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93268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579"/>
                </a:solidFill>
              </a:defRPr>
            </a:pPr>
            <a:r>
              <a:t>Descriptive review only — not a confirmed safety signal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08760"/>
          <a:ext cx="10881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181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Measure</a:t>
                      </a:r>
                    </a:p>
                  </a:txBody>
                  <a:tcPr marL="73152" marR="73152" marT="36576" marB="36576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Observed result</a:t>
                      </a:r>
                    </a:p>
                  </a:txBody>
                  <a:tcPr marL="73152" marR="73152" marT="36576" marB="36576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Interpretation</a:t>
                      </a:r>
                    </a:p>
                  </a:txBody>
                  <a:tcPr marL="73152" marR="73152" marT="36576" marB="36576" anchor="ctr">
                    <a:solidFill>
                      <a:srgbClr val="17324D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Reports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Small descriptive sample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Hospitalization outcomes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3 / 8 (37.5%)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Outcome field; not a complete seriousness assessment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Life-threatening severity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1 / 8 (12.5%)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Prioritize case-level review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Bleeding-related reports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Hypothesis-generating pattern only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Reaction onset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1–30 days; median 8.5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Not a calendar reporting trend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9834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7324D"/>
                </a:solidFill>
                <a:latin typeface="Aptos"/>
              </a:defRPr>
            </a:pPr>
            <a:r>
              <a:t>Conclusion: review ADR-9004 and ADR-9007 in more detail. The dataset cannot establish product causality or confirm a safety signal.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5624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579"/>
                </a:solidFill>
              </a:defRPr>
            </a:pPr>
            <a:r>
              <a:t>EdVyro | Synthetic training data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2657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 Display"/>
              </a:defRPr>
            </a:pPr>
            <a:r>
              <a:t>Dataset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93268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579"/>
                </a:solidFill>
              </a:defRPr>
            </a:pPr>
            <a:r>
              <a:t>Eight rows • Ten fields • Synthetic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Fields included:</a:t>
            </a: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Report ID, age, gender, suspected drug, indication, reaction, onset days, severity, outcome, reporter type.</a:t>
            </a: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Method:</a:t>
            </a: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• Descriptive counts and proportions</a:t>
            </a: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• Onset range and median</a:t>
            </a: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• Qualitative review for repeated event themes</a:t>
            </a: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• All rows retained; no imputation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4173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Data-quality checks:</a:t>
            </a: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• 8 unique report IDs</a:t>
            </a: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• 8 unique suspected products</a:t>
            </a: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• 0 missing cells in supplied CSV</a:t>
            </a: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• No reporting dates</a:t>
            </a: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• No exposure denominator or comparator</a:t>
            </a: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Not performed:</a:t>
            </a: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Statistical testing, disproportionality analysis, incidence estimation, or causal inference.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5624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579"/>
                </a:solidFill>
              </a:defRPr>
            </a:pPr>
            <a:r>
              <a:t>EdVyro | Synthetic training data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2657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 Display"/>
              </a:defRPr>
            </a:pPr>
            <a:r>
              <a:t>Reported Severity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93268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579"/>
                </a:solidFill>
              </a:defRPr>
            </a:pPr>
            <a:r>
              <a:t>Recorded intensity labels; seriousness must be assessed separately</a:t>
            </a:r>
          </a:p>
        </p:txBody>
      </p:sp>
      <p:pic>
        <p:nvPicPr>
          <p:cNvPr id="4" name="Picture 3" descr="seve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6583680" cy="32273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82880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D3741"/>
                </a:solidFill>
                <a:latin typeface="Aptos"/>
              </a:defRPr>
            </a:pPr>
            <a:r>
              <a:t>3 Mild</a:t>
            </a:r>
          </a:p>
          <a:p>
            <a:pPr>
              <a:spcAft>
                <a:spcPts val="700"/>
              </a:spcAft>
              <a:defRPr sz="1600" b="0">
                <a:solidFill>
                  <a:srgbClr val="2D3741"/>
                </a:solidFill>
                <a:latin typeface="Aptos"/>
              </a:defRPr>
            </a:pPr>
            <a:r>
              <a:t>2 Moderate</a:t>
            </a:r>
          </a:p>
          <a:p>
            <a:pPr>
              <a:spcAft>
                <a:spcPts val="700"/>
              </a:spcAft>
              <a:defRPr sz="1600" b="0">
                <a:solidFill>
                  <a:srgbClr val="2D3741"/>
                </a:solidFill>
                <a:latin typeface="Aptos"/>
              </a:defRPr>
            </a:pPr>
            <a:r>
              <a:t>2 Severe</a:t>
            </a:r>
          </a:p>
          <a:p>
            <a:pPr>
              <a:spcAft>
                <a:spcPts val="700"/>
              </a:spcAft>
              <a:defRPr sz="1600" b="0">
                <a:solidFill>
                  <a:srgbClr val="2D3741"/>
                </a:solidFill>
                <a:latin typeface="Aptos"/>
              </a:defRPr>
            </a:pPr>
            <a:r>
              <a:t>1 Life-threatening</a:t>
            </a:r>
          </a:p>
          <a:p>
            <a:pPr>
              <a:spcAft>
                <a:spcPts val="700"/>
              </a:spcAft>
              <a:defRPr sz="1600" b="0">
                <a:solidFill>
                  <a:srgbClr val="2D3741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2D3741"/>
                </a:solidFill>
                <a:latin typeface="Aptos"/>
              </a:defRPr>
            </a:pPr>
            <a:r>
              <a:t>A severe symptom is not automatically a serious case. This CSV does not include a separate formal seriousness field.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5624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579"/>
                </a:solidFill>
              </a:defRPr>
            </a:pPr>
            <a:r>
              <a:t>EdVyro | Synthetic training data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2657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 Display"/>
              </a:defRPr>
            </a:pPr>
            <a:r>
              <a:t>Recorded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93268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579"/>
                </a:solidFill>
              </a:defRPr>
            </a:pPr>
            <a:r>
              <a:t>Outcome labels from the supplied dataset</a:t>
            </a:r>
          </a:p>
        </p:txBody>
      </p:sp>
      <p:pic>
        <p:nvPicPr>
          <p:cNvPr id="4" name="Picture 3" descr="outco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6766560" cy="33170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8288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D3741"/>
                </a:solidFill>
                <a:latin typeface="Aptos"/>
              </a:defRPr>
            </a:pPr>
            <a:r>
              <a:t>3 Recovered</a:t>
            </a:r>
          </a:p>
          <a:p>
            <a:pPr>
              <a:spcAft>
                <a:spcPts val="700"/>
              </a:spcAft>
              <a:defRPr sz="1600" b="0">
                <a:solidFill>
                  <a:srgbClr val="2D3741"/>
                </a:solidFill>
                <a:latin typeface="Aptos"/>
              </a:defRPr>
            </a:pPr>
            <a:r>
              <a:t>1 Recovering</a:t>
            </a:r>
          </a:p>
          <a:p>
            <a:pPr>
              <a:spcAft>
                <a:spcPts val="700"/>
              </a:spcAft>
              <a:defRPr sz="1600" b="0">
                <a:solidFill>
                  <a:srgbClr val="2D3741"/>
                </a:solidFill>
                <a:latin typeface="Aptos"/>
              </a:defRPr>
            </a:pPr>
            <a:r>
              <a:t>3 Hospitalized</a:t>
            </a:r>
          </a:p>
          <a:p>
            <a:pPr>
              <a:spcAft>
                <a:spcPts val="700"/>
              </a:spcAft>
              <a:defRPr sz="1600" b="0">
                <a:solidFill>
                  <a:srgbClr val="2D3741"/>
                </a:solidFill>
                <a:latin typeface="Aptos"/>
              </a:defRPr>
            </a:pPr>
            <a:r>
              <a:t>1 Not recovered</a:t>
            </a:r>
          </a:p>
          <a:p>
            <a:pPr>
              <a:spcAft>
                <a:spcPts val="700"/>
              </a:spcAft>
              <a:defRPr sz="1600" b="0">
                <a:solidFill>
                  <a:srgbClr val="2D3741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2D3741"/>
                </a:solidFill>
                <a:latin typeface="Aptos"/>
              </a:defRPr>
            </a:pPr>
            <a:r>
              <a:t>Outcome and seriousness are related but not interchangeable. Details are insufficient to validate every seriousness criterion.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5624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579"/>
                </a:solidFill>
              </a:defRPr>
            </a:pPr>
            <a:r>
              <a:t>EdVyro | Synthetic training data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2657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 Display"/>
              </a:defRPr>
            </a:pPr>
            <a:r>
              <a:t>Reaction-Onset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93268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579"/>
                </a:solidFill>
              </a:defRPr>
            </a:pPr>
            <a:r>
              <a:t>Reported onset days are not report dates</a:t>
            </a:r>
          </a:p>
        </p:txBody>
      </p:sp>
      <p:pic>
        <p:nvPicPr>
          <p:cNvPr id="4" name="Picture 3" descr="on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583680" cy="34208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920240"/>
            <a:ext cx="3931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Range: 1–30 days</a:t>
            </a: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Median: 8.5 days</a:t>
            </a: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No report dates were supplied, so reporting trends over calendar time cannot be assessed.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5624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579"/>
                </a:solidFill>
              </a:defRPr>
            </a:pPr>
            <a:r>
              <a:t>EdVyro | Synthetic training data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2657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 Display"/>
              </a:defRPr>
            </a:pPr>
            <a:r>
              <a:t>Case-Level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93268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579"/>
                </a:solidFill>
              </a:defRPr>
            </a:pPr>
            <a:r>
              <a:t>Supplied fields reproduced for descriptive review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17320"/>
          <a:ext cx="113385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  <a:gridCol w="1889760"/>
                <a:gridCol w="1889760"/>
                <a:gridCol w="1889760"/>
              </a:tblGrid>
              <a:tr h="4978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ID</a:t>
                      </a:r>
                    </a:p>
                  </a:txBody>
                  <a:tcPr marL="73152" marR="73152" marT="36576" marB="36576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Suspected drug</a:t>
                      </a:r>
                    </a:p>
                  </a:txBody>
                  <a:tcPr marL="73152" marR="73152" marT="36576" marB="36576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Reaction</a:t>
                      </a:r>
                    </a:p>
                  </a:txBody>
                  <a:tcPr marL="73152" marR="73152" marT="36576" marB="36576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Onset</a:t>
                      </a:r>
                    </a:p>
                  </a:txBody>
                  <a:tcPr marL="73152" marR="73152" marT="36576" marB="36576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Severity</a:t>
                      </a:r>
                    </a:p>
                  </a:txBody>
                  <a:tcPr marL="73152" marR="73152" marT="36576" marB="36576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Outcome</a:t>
                      </a:r>
                    </a:p>
                  </a:txBody>
                  <a:tcPr marL="73152" marR="73152" marT="36576" marB="36576" anchor="ctr">
                    <a:solidFill>
                      <a:srgbClr val="17324D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ADR-9001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Amoxicillin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Skin Rash &amp; Hives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Mild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Recovered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ADR-9002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Atorvastatin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Severe Muscle Myalgia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14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Moderate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Recovering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ADR-9003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Ciprofloxacin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Tendonitis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Severe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Hospitalized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ADR-9004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Ibuprofen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Gastric Ulcer Bleed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Severe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Hospitalized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ADR-9005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Lisinopril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Persistent Dry Cough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21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Mild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Recovered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ADR-9006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Metformin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Nausea &amp; Diarrhea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Mild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Recovered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ADR-9007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Warfarin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Uncontrolled Hemorrhage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Life-Threatening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Hospitalized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ADR-9008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Paclitaxel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Peripheral Neuropathy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30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Moderate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Not Recovered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579"/>
                </a:solidFill>
              </a:defRPr>
            </a:pPr>
            <a:r>
              <a:t>EdVyro | Synthetic training data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2657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 Display"/>
              </a:defRPr>
            </a:pPr>
            <a:r>
              <a:t>Potential Signal Observation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93268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579"/>
                </a:solidFill>
              </a:defRPr>
            </a:pPr>
            <a:r>
              <a:t>A hypothesis for follow-up — not a confirmed signal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17320"/>
          <a:ext cx="10881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6705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Report</a:t>
                      </a:r>
                    </a:p>
                  </a:txBody>
                  <a:tcPr marL="73152" marR="73152" marT="36576" marB="36576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Supplied details</a:t>
                      </a:r>
                    </a:p>
                  </a:txBody>
                  <a:tcPr marL="73152" marR="73152" marT="36576" marB="36576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Priority rationale</a:t>
                      </a:r>
                    </a:p>
                  </a:txBody>
                  <a:tcPr marL="73152" marR="73152" marT="36576" marB="36576" anchor="ctr">
                    <a:solidFill>
                      <a:srgbClr val="17324D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ADR-9004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Ibuprofen • Gastric Ulcer Bleed • Severe • Hospitalized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Bleeding-related event; verify details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ADR-9007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Warfarin • Uncontrolled Hemorrhage • Life-threatening • Hospitalized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Highest-priority individual record in this dataset</a:t>
                      </a:r>
                    </a:p>
                  </a:txBody>
                  <a:tcPr marL="73152" marR="73152" marT="36576" marB="36576" anchor="ctr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388620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D3741"/>
                </a:solidFill>
                <a:latin typeface="Aptos"/>
              </a:defRPr>
            </a:pPr>
            <a:r>
              <a:t>Why not confirmed?</a:t>
            </a:r>
          </a:p>
          <a:p>
            <a:pPr>
              <a:spcAft>
                <a:spcPts val="700"/>
              </a:spcAft>
              <a:defRPr sz="1400" b="0">
                <a:solidFill>
                  <a:srgbClr val="2D3741"/>
                </a:solidFill>
                <a:latin typeface="Aptos"/>
              </a:defRPr>
            </a:pPr>
            <a:r>
              <a:t>• Only two related reports in a selected sample of eight</a:t>
            </a:r>
          </a:p>
          <a:p>
            <a:pPr>
              <a:spcAft>
                <a:spcPts val="700"/>
              </a:spcAft>
              <a:defRPr sz="1400" b="0">
                <a:solidFill>
                  <a:srgbClr val="2D3741"/>
                </a:solidFill>
                <a:latin typeface="Aptos"/>
              </a:defRPr>
            </a:pPr>
            <a:r>
              <a:t>• Different suspected products and indications</a:t>
            </a:r>
          </a:p>
          <a:p>
            <a:pPr>
              <a:spcAft>
                <a:spcPts val="700"/>
              </a:spcAft>
              <a:defRPr sz="1400" b="0">
                <a:solidFill>
                  <a:srgbClr val="2D3741"/>
                </a:solidFill>
                <a:latin typeface="Aptos"/>
              </a:defRPr>
            </a:pPr>
            <a:r>
              <a:t>• No denominator, comparator, reporting dates, or verified medical records</a:t>
            </a:r>
          </a:p>
          <a:p>
            <a:pPr>
              <a:spcAft>
                <a:spcPts val="700"/>
              </a:spcAft>
              <a:defRPr sz="1400" b="0">
                <a:solidFill>
                  <a:srgbClr val="2D3741"/>
                </a:solidFill>
                <a:latin typeface="Aptos"/>
              </a:defRPr>
            </a:pPr>
            <a:r>
              <a:t>• “Suspected drug” does not establish causality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5624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579"/>
                </a:solidFill>
              </a:defRPr>
            </a:pPr>
            <a:r>
              <a:t>EdVyro | Synthetic training data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2657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 Display"/>
              </a:defRPr>
            </a:pPr>
            <a:r>
              <a:t>Alternative Explanations &amp; Follow-up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Alternative explanations:</a:t>
            </a: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• Underlying conditions / comorbidities</a:t>
            </a: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• Concomitant medicines or interactions</a:t>
            </a: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• Dose, duration, adherence, or medication-use errors</a:t>
            </a: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• Unverified or imprecise event terms</a:t>
            </a: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• Selection and reporting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41732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Follow-up questions:</a:t>
            </a: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• Confirm diagnosis, dates, course, and outcome</a:t>
            </a: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• Obtain relevant medical history</a:t>
            </a: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• Check concomitant products and dose details</a:t>
            </a: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• Review relevant lab results if available</a:t>
            </a: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• Clarify dechallenge/rechallenge</a:t>
            </a: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• Protect personal data during follow-up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579"/>
                </a:solidFill>
              </a:defRPr>
            </a:pPr>
            <a:r>
              <a:t>EdVyro | Synthetic training data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2657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 Display"/>
              </a:defRPr>
            </a:pPr>
            <a:r>
              <a:t>Risk-Minimization Questions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Questions after evidence verification:</a:t>
            </a: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• Are preventable medication-use factors present?</a:t>
            </a: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• Are product information and communications appropriate?</a:t>
            </a: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• Is targeted education or a process safeguard justified?</a:t>
            </a:r>
          </a:p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• What measurable outcome would monitor effectiveness?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41732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D3741"/>
                </a:solidFill>
                <a:latin typeface="Aptos"/>
              </a:defRPr>
            </a:pPr>
            <a:r>
              <a:t>Key limitations:</a:t>
            </a:r>
          </a:p>
          <a:p>
            <a:pPr>
              <a:spcAft>
                <a:spcPts val="700"/>
              </a:spcAft>
              <a:defRPr sz="1400" b="0">
                <a:solidFill>
                  <a:srgbClr val="2D3741"/>
                </a:solidFill>
                <a:latin typeface="Aptos"/>
              </a:defRPr>
            </a:pPr>
            <a:r>
              <a:t>• Synthetic sample, n=8</a:t>
            </a:r>
          </a:p>
          <a:p>
            <a:pPr>
              <a:spcAft>
                <a:spcPts val="700"/>
              </a:spcAft>
              <a:defRPr sz="1400" b="0">
                <a:solidFill>
                  <a:srgbClr val="2D3741"/>
                </a:solidFill>
                <a:latin typeface="Aptos"/>
              </a:defRPr>
            </a:pPr>
            <a:r>
              <a:t>• No denominator or comparator</a:t>
            </a:r>
          </a:p>
          <a:p>
            <a:pPr>
              <a:spcAft>
                <a:spcPts val="700"/>
              </a:spcAft>
              <a:defRPr sz="1400" b="0">
                <a:solidFill>
                  <a:srgbClr val="2D3741"/>
                </a:solidFill>
                <a:latin typeface="Aptos"/>
              </a:defRPr>
            </a:pPr>
            <a:r>
              <a:t>• No report dates</a:t>
            </a:r>
          </a:p>
          <a:p>
            <a:pPr>
              <a:spcAft>
                <a:spcPts val="700"/>
              </a:spcAft>
              <a:defRPr sz="1400" b="0">
                <a:solidFill>
                  <a:srgbClr val="2D3741"/>
                </a:solidFill>
                <a:latin typeface="Aptos"/>
              </a:defRPr>
            </a:pPr>
            <a:r>
              <a:t>• No separate seriousness field</a:t>
            </a:r>
          </a:p>
          <a:p>
            <a:pPr>
              <a:spcAft>
                <a:spcPts val="700"/>
              </a:spcAft>
              <a:defRPr sz="1400" b="0">
                <a:solidFill>
                  <a:srgbClr val="2D3741"/>
                </a:solidFill>
                <a:latin typeface="Aptos"/>
              </a:defRPr>
            </a:pPr>
            <a:r>
              <a:t>• No narratives, labs, co-medications, or verified diagnoses</a:t>
            </a:r>
          </a:p>
          <a:p>
            <a:pPr>
              <a:spcAft>
                <a:spcPts val="700"/>
              </a:spcAft>
              <a:defRPr sz="1400" b="0">
                <a:solidFill>
                  <a:srgbClr val="2D3741"/>
                </a:solidFill>
                <a:latin typeface="Aptos"/>
              </a:defRPr>
            </a:pPr>
            <a:r>
              <a:t>• Cannot estimate incidence or establish causality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579"/>
                </a:solidFill>
              </a:defRPr>
            </a:pPr>
            <a:r>
              <a:t>EdVyro | Synthetic training data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2657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 Display"/>
              </a:defRPr>
            </a:pPr>
            <a:r>
              <a:t>Conclusion &amp; Resume-Ready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7324D"/>
                </a:solidFill>
                <a:latin typeface="Aptos"/>
              </a:defRPr>
            </a:pPr>
            <a:r>
              <a:t>Conclusion: two bleeding-related reports merit focused follow-up as a hypothesis-generating pattern. The dataset is insufficient to confirm a safety signal or infer causation.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D3741"/>
                </a:solidFill>
                <a:latin typeface="Aptos"/>
              </a:defRPr>
            </a:pPr>
            <a:r>
              <a:t>Resume project title: Pharmacovigilance Practice Project | Safety Signal Review</a:t>
            </a:r>
          </a:p>
          <a:p>
            <a:pPr>
              <a:spcAft>
                <a:spcPts val="700"/>
              </a:spcAft>
              <a:defRPr sz="1300" b="0">
                <a:solidFill>
                  <a:srgbClr val="2D3741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300" b="0">
                <a:solidFill>
                  <a:srgbClr val="2D3741"/>
                </a:solidFill>
                <a:latin typeface="Aptos"/>
              </a:defRPr>
            </a:pPr>
            <a:r>
              <a:t>• Reviewed an 8-record synthetic adverse-reaction dataset using descriptive analysis.</a:t>
            </a:r>
          </a:p>
          <a:p>
            <a:pPr>
              <a:spcAft>
                <a:spcPts val="700"/>
              </a:spcAft>
              <a:defRPr sz="1300" b="0">
                <a:solidFill>
                  <a:srgbClr val="2D3741"/>
                </a:solidFill>
                <a:latin typeface="Aptos"/>
              </a:defRPr>
            </a:pPr>
            <a:r>
              <a:t>• Created charts and case-level tables for severity, outcomes, and reaction-onset timing.</a:t>
            </a:r>
          </a:p>
          <a:p>
            <a:pPr>
              <a:spcAft>
                <a:spcPts val="700"/>
              </a:spcAft>
              <a:defRPr sz="1300" b="0">
                <a:solidFill>
                  <a:srgbClr val="2D3741"/>
                </a:solidFill>
                <a:latin typeface="Aptos"/>
              </a:defRPr>
            </a:pPr>
            <a:r>
              <a:t>• Flagged two bleeding-related reports for follow-up while documenting alternatives and evidence gaps.</a:t>
            </a:r>
          </a:p>
          <a:p>
            <a:pPr>
              <a:spcAft>
                <a:spcPts val="700"/>
              </a:spcAft>
              <a:defRPr sz="1300" b="0">
                <a:solidFill>
                  <a:srgbClr val="2D3741"/>
                </a:solidFill>
                <a:latin typeface="Aptos"/>
              </a:defRPr>
            </a:pPr>
            <a:r>
              <a:t>• Applied cautious safety-data interpretation without unsupported causality claims.</a:t>
            </a:r>
          </a:p>
          <a:p>
            <a:pPr>
              <a:spcAft>
                <a:spcPts val="700"/>
              </a:spcAft>
              <a:defRPr sz="1300" b="0">
                <a:solidFill>
                  <a:srgbClr val="2D3741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300" b="0">
                <a:solidFill>
                  <a:srgbClr val="2D3741"/>
                </a:solidFill>
                <a:latin typeface="Aptos"/>
              </a:defRPr>
            </a:pPr>
            <a:r>
              <a:t>ATS keywords: Pharmacovigilance, Adverse Event Review, Safety Signal Detection (training), Case Triage, Descriptive Data Analysis, Data Quality Review, Risk Minimization, Report Writing.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579"/>
                </a:solidFill>
              </a:defRPr>
            </a:pPr>
            <a:r>
              <a:t>EdVyro | Synthetic training data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2657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 Display"/>
              </a:defRPr>
            </a:pPr>
            <a:r>
              <a:t>References &amp; Scope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93268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579"/>
                </a:solidFill>
              </a:defRPr>
            </a:pPr>
            <a:r>
              <a:t>Synthetic training data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D3741"/>
                </a:solidFill>
                <a:latin typeface="Aptos"/>
              </a:defRPr>
            </a:pPr>
            <a:r>
              <a:t>Primary source: EdVyro Safety Signal Review Capstone brief and supplied adverse-reaction aggregate CSV.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D3741"/>
                </a:solidFill>
                <a:latin typeface="Aptos"/>
              </a:defRPr>
            </a:pPr>
            <a:r>
              <a:t>Learning references:</a:t>
            </a:r>
          </a:p>
          <a:p>
            <a:pPr>
              <a:spcAft>
                <a:spcPts val="700"/>
              </a:spcAft>
              <a:defRPr sz="1300" b="0">
                <a:solidFill>
                  <a:srgbClr val="2D3741"/>
                </a:solidFill>
                <a:latin typeface="Aptos"/>
              </a:defRPr>
            </a:pPr>
            <a:r>
              <a:t>ICH E2A — https://database.ich.org/sites/default/files/E2A_Guideline.pdf</a:t>
            </a:r>
          </a:p>
          <a:p>
            <a:pPr>
              <a:spcAft>
                <a:spcPts val="700"/>
              </a:spcAft>
              <a:defRPr sz="1300" b="0">
                <a:solidFill>
                  <a:srgbClr val="2D3741"/>
                </a:solidFill>
                <a:latin typeface="Aptos"/>
              </a:defRPr>
            </a:pPr>
            <a:r>
              <a:t>WHO–UMC causality assessment — https://who-umc.org/media/u4gjgxvv/who-umc-causality-assessment_new-logo.pdf</a:t>
            </a:r>
          </a:p>
          <a:p>
            <a:pPr>
              <a:spcAft>
                <a:spcPts val="700"/>
              </a:spcAft>
              <a:defRPr sz="1300" b="0">
                <a:solidFill>
                  <a:srgbClr val="2D3741"/>
                </a:solidFill>
                <a:latin typeface="Aptos"/>
              </a:defRPr>
            </a:pPr>
            <a:r>
              <a:t>FDA: What is a Serious Adverse Event? — https://www.fda.gov/safety/reporting-serious-problems-fda/what-serious-adverse-event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49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7324D"/>
                </a:solidFill>
                <a:latin typeface="Aptos"/>
              </a:defRPr>
            </a:pPr>
            <a:r>
              <a:t>This is not medical advice or a real safety report. No causal conclusion is made.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5624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579"/>
                </a:solidFill>
              </a:defRPr>
            </a:pPr>
            <a:r>
              <a:t>EdVyro | Synthetic training data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2657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